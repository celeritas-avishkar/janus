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07"/>
    <p:restoredTop sz="94686"/>
  </p:normalViewPr>
  <p:slideViewPr>
    <p:cSldViewPr snapToGrid="0">
      <p:cViewPr varScale="1">
        <p:scale>
          <a:sx n="75" d="100"/>
          <a:sy n="75" d="100"/>
        </p:scale>
        <p:origin x="192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00D0FA3-122B-4F57-B0DC-DD415D215A4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5AB3EB-00B9-456D-9C56-59C4A200495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E17CB0E-48C1-47EA-B9B4-122FE268CB7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alphaModFix amt="69000"/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364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A462F86-BD22-4803-878E-4CC246F09B2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29200" y="1164361"/>
            <a:ext cx="9071640" cy="8309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6000" b="1" u="none" strike="noStrike" dirty="0">
                <a:solidFill>
                  <a:srgbClr val="000000"/>
                </a:solidFill>
                <a:effectLst/>
                <a:uFillTx/>
                <a:latin typeface="Copperplate Gothic Bold" panose="020E0705020206020404" pitchFamily="34" charset="77"/>
              </a:rPr>
              <a:t>Problem Statement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Copperplate Gothic Bold" panose="020E0705020206020404" pitchFamily="34" charset="77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3640" y="2892562"/>
            <a:ext cx="9071640" cy="8863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Adaptive drone flight-path re-planner for volcanic ash/turbulent airspace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Bodoni 72 Book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640" y="2410511"/>
            <a:ext cx="9071640" cy="8495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6000" b="1" u="none" strike="noStrike" dirty="0">
                <a:solidFill>
                  <a:srgbClr val="000000"/>
                </a:solidFill>
                <a:effectLst/>
                <a:uFillTx/>
                <a:latin typeface="ACADEMY ENGRAVED LET PLAIN:1.0" panose="02000000000000000000" pitchFamily="2" charset="0"/>
              </a:rPr>
              <a:t>JANUS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ACADEMY ENGRAVED LET PLAIN:1.0" panose="02000000000000000000" pitchFamily="2" charset="0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3640" y="3260039"/>
            <a:ext cx="9071640" cy="4431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  <a:cs typeface="Big Caslon Medium" panose="02000603090000020003" pitchFamily="2" charset="-79"/>
              </a:rPr>
              <a:t>Protecting your drones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BODONI 72 BOOK" pitchFamily="2" charset="0"/>
              <a:cs typeface="BIG CASLON MEDIUM" panose="02000603090000020003" pitchFamily="2" charset="-79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3640" y="39424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 dirty="0">
                <a:solidFill>
                  <a:srgbClr val="000000"/>
                </a:solidFill>
                <a:effectLst/>
                <a:uFillTx/>
                <a:latin typeface="Copperplate Gothic Bold" panose="020E0705020206020404" pitchFamily="34" charset="77"/>
              </a:rPr>
              <a:t>What is Janus?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Copperplate Gothic Bold" panose="020E0705020206020404" pitchFamily="34" charset="77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29200" y="2742840"/>
            <a:ext cx="907164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lstStyle/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A </a:t>
            </a:r>
            <a:r>
              <a:rPr lang="en-US" sz="2200" b="1" u="none" strike="noStrike" dirty="0" err="1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Pygame</a:t>
            </a:r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-based software that demonstrates real time hazard detection and on-the-fly trajectory replanning for a drone.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3640" y="39424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 dirty="0">
                <a:solidFill>
                  <a:srgbClr val="000000"/>
                </a:solidFill>
                <a:effectLst/>
                <a:uFillTx/>
                <a:latin typeface="Copperplate Gothic Bold" panose="020E0705020206020404" pitchFamily="34" charset="77"/>
              </a:rPr>
              <a:t>How does Janus work?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Copperplate Gothic Bold" panose="020E0705020206020404" pitchFamily="34" charset="77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lstStyle/>
          <a:p>
            <a:pPr indent="0" algn="ctr">
              <a:spcBef>
                <a:spcPts val="1414"/>
              </a:spcBef>
              <a:buNone/>
            </a:pPr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Janus replans a flight path with the help of path-finding algorithms such as A*, Dijkstra and Bendy ruler whenever the onboard sensor detects Volcanic ash or other disruptive weather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3640" y="39424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spcBef>
                <a:spcPts val="1191"/>
              </a:spcBef>
              <a:spcAft>
                <a:spcPts val="989"/>
              </a:spcAft>
              <a:buNone/>
            </a:pPr>
            <a:r>
              <a:rPr lang="en-US" sz="4400" b="1" u="none" strike="noStrike" dirty="0">
                <a:solidFill>
                  <a:srgbClr val="000000"/>
                </a:solidFill>
                <a:effectLst/>
                <a:uFillTx/>
                <a:latin typeface="Copperplate Gothic Bold" panose="020E0705020206020404" pitchFamily="34" charset="77"/>
              </a:rPr>
              <a:t>Key Capabilities of Janus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Copperplate Gothic Bold" panose="020E0705020206020404" pitchFamily="34" charset="77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3640" y="1371240"/>
            <a:ext cx="9097200" cy="38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lstStyle/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Dijkstra: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 Understand the traversable environment and calculate cost-to-go.</a:t>
            </a: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A*: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 Find an efficient global path from the drone's current position to its destination.</a:t>
            </a: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1" u="none" strike="noStrike" dirty="0" err="1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BendyRuler</a:t>
            </a:r>
            <a:r>
              <a:rPr lang="en-US" sz="26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: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 Adjust the path locally when obstacles make the planned trajectory unsuitable.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3640" y="39424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 dirty="0">
                <a:solidFill>
                  <a:srgbClr val="000000"/>
                </a:solidFill>
                <a:effectLst/>
                <a:uFillTx/>
                <a:latin typeface="Copperplate Gothic Bold" panose="020E0705020206020404" pitchFamily="34" charset="77"/>
              </a:rPr>
              <a:t>Key Capabilities of Janus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Copperplate Gothic Bold" panose="020E0705020206020404" pitchFamily="34" charset="77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3640" y="1599840"/>
            <a:ext cx="9097200" cy="32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10000"/>
          </a:bodyPr>
          <a:lstStyle/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Avoidance rules: 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The system prioritizes threats based on the severity of degradation the system would face inside them.</a:t>
            </a: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For example:</a:t>
            </a: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Volcanic ash and high turbulence are hard exclusion volumes. </a:t>
            </a: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Low turbulence is a soft pass-through region. </a:t>
            </a: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TFRs are treated as solid barriers based on the altitude restrictions placed by regulators.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3640" y="39424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 dirty="0">
                <a:solidFill>
                  <a:srgbClr val="000000"/>
                </a:solidFill>
                <a:effectLst/>
                <a:uFillTx/>
                <a:latin typeface="Copperplate Gothic Bold" panose="020E0705020206020404" pitchFamily="34" charset="77"/>
              </a:rPr>
              <a:t>Key Capabilities of Janus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Copperplate Gothic Bold" panose="020E0705020206020404" pitchFamily="34" charset="77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3640" y="1599840"/>
            <a:ext cx="9097200" cy="320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Adaptable to multiple aircraft: 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The ability to include multiple types of UAS ranging from hobbyists to defense grade equipment under our compatibility.</a:t>
            </a: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Able to resolve multiple weather types: 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Bodoni 72 Book" pitchFamily="2" charset="0"/>
              </a:rPr>
              <a:t>The model has been trained to handle multiple types of contingency and disaster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3640" y="39424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 dirty="0">
                <a:solidFill>
                  <a:srgbClr val="000000"/>
                </a:solidFill>
                <a:effectLst/>
                <a:uFillTx/>
                <a:latin typeface="Copperplate Gothic Bold" panose="020E0705020206020404" pitchFamily="34" charset="77"/>
              </a:rPr>
              <a:t>Requirements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Copperplate Gothic Bold" panose="020E0705020206020404" pitchFamily="34" charset="77"/>
            </a:endParaRPr>
          </a:p>
        </p:txBody>
      </p:sp>
      <p:graphicFrame>
        <p:nvGraphicFramePr>
          <p:cNvPr id="27" name="Table 26"/>
          <p:cNvGraphicFramePr/>
          <p:nvPr>
            <p:extLst>
              <p:ext uri="{D42A27DB-BD31-4B8C-83A1-F6EECF244321}">
                <p14:modId xmlns:p14="http://schemas.microsoft.com/office/powerpoint/2010/main" val="2413436712"/>
              </p:ext>
            </p:extLst>
          </p:nvPr>
        </p:nvGraphicFramePr>
        <p:xfrm>
          <a:off x="503640" y="1326240"/>
          <a:ext cx="9071640" cy="3486360"/>
        </p:xfrm>
        <a:graphic>
          <a:graphicData uri="http://schemas.openxmlformats.org/drawingml/2006/table">
            <a:tbl>
              <a:tblPr/>
              <a:tblGrid>
                <a:gridCol w="45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opperplate Gothic Bold" panose="020E0705020206020404" pitchFamily="34" charset="77"/>
                        </a:rPr>
                        <a:t>Volcanic ash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opperplate Gothic Bold" panose="020E0705020206020404" pitchFamily="34" charset="77"/>
                        </a:rPr>
                        <a:t>Weather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6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Particle detection:</a:t>
                      </a: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Recommended: 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OPC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Minimum: 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Sharp GP2Y1010AU0F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indent="0" algn="l">
                        <a:buNone/>
                      </a:pP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Sulfur Dioxide detection:</a:t>
                      </a: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Recommended: 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Alphasense SO</a:t>
                      </a:r>
                      <a:r>
                        <a:rPr lang="en-US" sz="2000" b="0" u="none" strike="noStrike" baseline="-8000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2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-B4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Minimum: 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Winsen ZE12A-SO</a:t>
                      </a:r>
                      <a:r>
                        <a:rPr lang="en-US" sz="2000" b="0" u="none" strike="noStrike" baseline="-8000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2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Recommended: </a:t>
                      </a:r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Sensirion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 SHT45 + Bosch BMP390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Minimum: 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Bosch BME280</a:t>
                      </a:r>
                      <a:endParaRPr lang="en-US" sz="18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3640" y="394241"/>
            <a:ext cx="9071640" cy="6093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1" u="none" strike="noStrike" dirty="0">
                <a:solidFill>
                  <a:srgbClr val="000000"/>
                </a:solidFill>
                <a:effectLst/>
                <a:uFillTx/>
                <a:latin typeface="Copperplate Gothic Bold" panose="020E0705020206020404" pitchFamily="34" charset="77"/>
              </a:rPr>
              <a:t>Requirements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Copperplate Gothic Bold" panose="020E0705020206020404" pitchFamily="34" charset="77"/>
            </a:endParaRPr>
          </a:p>
        </p:txBody>
      </p: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3126995627"/>
              </p:ext>
            </p:extLst>
          </p:nvPr>
        </p:nvGraphicFramePr>
        <p:xfrm>
          <a:off x="503640" y="1326240"/>
          <a:ext cx="9071640" cy="3486360"/>
        </p:xfrm>
        <a:graphic>
          <a:graphicData uri="http://schemas.openxmlformats.org/drawingml/2006/table">
            <a:tbl>
              <a:tblPr/>
              <a:tblGrid>
                <a:gridCol w="4535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opperplate Gothic Bold" panose="020E0705020206020404" pitchFamily="34" charset="77"/>
                        </a:rPr>
                        <a:t>GPS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opperplate Gothic Bold" panose="020E0705020206020404" pitchFamily="34" charset="77"/>
                        </a:rPr>
                        <a:t>Motion sensors</a:t>
                      </a:r>
                    </a:p>
                  </a:txBody>
                  <a:tcPr marL="36000" marR="36000" marT="36000" marB="36000" anchor="ctr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640">
                <a:tc>
                  <a:txBody>
                    <a:bodyPr/>
                    <a:lstStyle/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Recommended: 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u-</a:t>
                      </a:r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blox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 ZED-F9P RTK GNSS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Minimum: 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u-</a:t>
                      </a:r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blox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 M10-based GNSS module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Inertial Measurement unit (IMU):</a:t>
                      </a: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Recommended: 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Bosch BMI088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Minimum: 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MPU9250 9-axis IMU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indent="0" algn="l">
                        <a:buNone/>
                      </a:pP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Flight controller:</a:t>
                      </a: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Recommended: </a:t>
                      </a:r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Holybro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 Pixhawk 6X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  <a:p>
                      <a:pPr marL="216000" indent="-216000" algn="l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Minimum: </a:t>
                      </a:r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Holybro</a:t>
                      </a: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Bodoni 72 Book" pitchFamily="2" charset="0"/>
                        </a:rPr>
                        <a:t> Pixhawk 6C Mini</a:t>
                      </a:r>
                      <a:endParaRPr lang="en-US" sz="20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BODONI 72 BOOK" pitchFamily="2" charset="0"/>
                      </a:endParaRPr>
                    </a:p>
                  </a:txBody>
                  <a:tcPr marL="36000" marR="36000" marT="36000" marB="36000" anchor="ctr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3640" y="2324281"/>
            <a:ext cx="9071640" cy="8309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6000" b="1" u="none" strike="noStrike" dirty="0">
                <a:solidFill>
                  <a:srgbClr val="000000"/>
                </a:solidFill>
                <a:effectLst/>
                <a:uFillTx/>
                <a:latin typeface="Copperplate Gothic Bold" panose="020E0705020206020404" pitchFamily="34" charset="77"/>
              </a:rPr>
              <a:t>Thank you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Copperplate Gothic Bold" panose="020E0705020206020404" pitchFamily="34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Words>310</Words>
  <Application>Microsoft Macintosh PowerPoint</Application>
  <PresentationFormat>Custom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ACADEMY ENGRAVED LET PLAIN:1.0</vt:lpstr>
      <vt:lpstr>Arial</vt:lpstr>
      <vt:lpstr>Bodoni 72 Book</vt:lpstr>
      <vt:lpstr>Bodoni 72 Book</vt:lpstr>
      <vt:lpstr>Copperplate Gothic Bold</vt:lpstr>
      <vt:lpstr>Symbol</vt:lpstr>
      <vt:lpstr>Times New Roman</vt:lpstr>
      <vt:lpstr>Wingdings</vt:lpstr>
      <vt:lpstr>Office</vt:lpstr>
      <vt:lpstr>Problem Statement</vt:lpstr>
      <vt:lpstr>JANUS</vt:lpstr>
      <vt:lpstr>What is Janus?</vt:lpstr>
      <vt:lpstr>How does Janus work?</vt:lpstr>
      <vt:lpstr>Key Capabilities of Janus</vt:lpstr>
      <vt:lpstr>Key Capabilities of Janus</vt:lpstr>
      <vt:lpstr>Key Capabilities of Janus</vt:lpstr>
      <vt:lpstr>Requirements</vt:lpstr>
      <vt:lpstr>Requirements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Anish Jois</cp:lastModifiedBy>
  <cp:revision>3</cp:revision>
  <dcterms:created xsi:type="dcterms:W3CDTF">2026-10-31T19:16:27Z</dcterms:created>
  <dcterms:modified xsi:type="dcterms:W3CDTF">2026-11-01T02:19:04Z</dcterms:modified>
  <dc:language>en-US</dc:language>
</cp:coreProperties>
</file>